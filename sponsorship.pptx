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pic>
        <p:nvPicPr>
          <p:cNvPr id="2" name="Picture 1" descr="70e94c1e-db53-47c0-ab35-406d2108bce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1695" cy="69389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8155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4E1AD"/>
                </a:solidFill>
                <a:latin typeface="Aptos"/>
              </a:defRPr>
            </a:pPr>
            <a:r>
              <a:t>Second Year Celebration • 16–21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A Grand Six-Day Community Celebration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E0D1E"/>
                </a:solidFill>
                <a:latin typeface="Aptos"/>
              </a:defRPr>
            </a:pPr>
            <a:r>
              <a:t>Dear Sir/Madam,</a:t>
            </a:r>
            <a:br/>
            <a:r>
              <a:t>Greetings from CA Durgotsav &amp; Navratri Samiti!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1C19"/>
                </a:solidFill>
                <a:latin typeface="Aptos"/>
              </a:defRPr>
            </a:pPr>
            <a:r>
              <a:t>We are delighted to announce the Second Year Celebration of Durga Puja, organized by the residents of Concorde Auriga, from 16th October to 21st October 2026.</a:t>
            </a:r>
            <a:br/>
            <a:r>
              <a:t/>
            </a:r>
            <a:br/>
            <a:r>
              <a:t>Building upon the overwhelming response to our inaugural celebration, this year's festival is planned on a larger scale with enhanced cultural programming, improved infrastructure, stronger community participation and an elevated visitor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E0D1E"/>
                </a:solidFill>
                <a:latin typeface="Aptos Display"/>
              </a:defRPr>
            </a:pPr>
            <a:r>
              <a:t>550+</a:t>
            </a:r>
          </a:p>
          <a:p>
            <a:pPr algn="ctr">
              <a:defRPr sz="1100">
                <a:solidFill>
                  <a:srgbClr val="645C55"/>
                </a:solidFill>
                <a:latin typeface="Aptos"/>
              </a:defRPr>
            </a:pPr>
            <a:r>
              <a:t>Families at Concorde Auriga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1605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E0D1E"/>
                </a:solidFill>
                <a:latin typeface="Aptos Display"/>
              </a:defRPr>
            </a:pPr>
            <a:r>
              <a:t>6 Days</a:t>
            </a:r>
          </a:p>
          <a:p>
            <a:pPr algn="ctr">
              <a:defRPr sz="1100">
                <a:solidFill>
                  <a:srgbClr val="645C55"/>
                </a:solidFill>
                <a:latin typeface="Aptos"/>
              </a:defRPr>
            </a:pPr>
            <a:r>
              <a:t>Festival &amp; cultural programming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41605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E0D1E"/>
                </a:solidFill>
                <a:latin typeface="Aptos Display"/>
              </a:defRPr>
            </a:pPr>
            <a:r>
              <a:t>1,000+</a:t>
            </a:r>
          </a:p>
          <a:p>
            <a:pPr algn="ctr">
              <a:defRPr sz="1100">
                <a:solidFill>
                  <a:srgbClr val="645C55"/>
                </a:solidFill>
                <a:latin typeface="Aptos"/>
              </a:defRPr>
            </a:pPr>
            <a:r>
              <a:t>Expected people footfall*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416052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7E0D1E"/>
                </a:solidFill>
                <a:latin typeface="Aptos Display"/>
              </a:defRPr>
            </a:pPr>
            <a:r>
              <a:t>7.5 ft</a:t>
            </a:r>
          </a:p>
          <a:p>
            <a:pPr algn="ctr">
              <a:defRPr sz="1100">
                <a:solidFill>
                  <a:srgbClr val="645C55"/>
                </a:solidFill>
                <a:latin typeface="Aptos"/>
              </a:defRPr>
            </a:pPr>
            <a:r>
              <a:t>Planned Durga idol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961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5C55"/>
                </a:solidFill>
                <a:latin typeface="Aptos"/>
              </a:defRPr>
            </a:pPr>
            <a:r>
              <a:t>*Footfall figure reflects the event communication shared by the Samiti.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2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8488" y="5550408"/>
            <a:ext cx="1328943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61913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Why This Year's Celebration Is Bigger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Community • Culture • Tradition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44068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t>The 2026 Opportunity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The inaugural Durga Puja &amp; Navratri celebration received an incredible response from residents and visitors.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The event was smoothly executed and received positive community feedback.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For 2026, the Samiti has obtained the necessary approvals and the Occupancy Certificate (OC) for the celebration.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Concorde Auriga is now home to 550+ families, creating a strong community platform for cultural engagement.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The expanded celebration aims to offer a richer visitor experience and greater participation.</a:t>
            </a:r>
          </a:p>
        </p:txBody>
      </p:sp>
      <p:pic>
        <p:nvPicPr>
          <p:cNvPr id="7" name="Picture 6" descr="70e94c1e-db53-47c0-ab35-406d2108bce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43000"/>
            <a:ext cx="5166360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504688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7E0D1E"/>
                </a:solidFill>
                <a:latin typeface="Aptos"/>
              </a:defRPr>
            </a:pPr>
            <a:r>
              <a:t>A celebration designed to bring residents, families, professionals and visitors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3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2813" y="5550408"/>
            <a:ext cx="1014618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Festival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What the sponsor supports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rPr dirty="0" err="1"/>
              <a:t>Durga</a:t>
            </a:r>
            <a:r>
              <a:rPr dirty="0"/>
              <a:t> Puja </a:t>
            </a:r>
            <a:r>
              <a:rPr dirty="0" err="1"/>
              <a:t>Mandap</a:t>
            </a:r>
            <a:endParaRPr dirty="0"/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rPr dirty="0"/>
              <a:t>Beautifully decorated puja space and devotional ambience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1430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t>Cultural Performances</a:t>
            </a:r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t>Dance, music, skits and stage performances for all age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1430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Traditional Rituals</a:t>
            </a:r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rPr dirty="0" err="1"/>
              <a:t>Pushpanjali</a:t>
            </a:r>
            <a:r>
              <a:rPr dirty="0"/>
              <a:t>, Sandhya </a:t>
            </a:r>
            <a:r>
              <a:rPr dirty="0" err="1"/>
              <a:t>Aarti</a:t>
            </a:r>
            <a:r>
              <a:rPr dirty="0"/>
              <a:t>, Sandhi Puja, </a:t>
            </a:r>
            <a:r>
              <a:rPr dirty="0" err="1"/>
              <a:t>Kanya</a:t>
            </a:r>
            <a:r>
              <a:rPr dirty="0"/>
              <a:t> Puja &amp; more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6576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t>Dandiya / DJ Night</a:t>
            </a:r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t>Festive evening celebrating Navratri with the community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6576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Kids Engagement</a:t>
            </a:r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rPr dirty="0"/>
              <a:t>Competitions, games, creative activities and family participation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657600"/>
            <a:ext cx="32004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58368" rIns="109728" rtlCol="0" anchor="ctr"/>
          <a:lstStyle/>
          <a:p>
            <a:pPr algn="ctr"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Flea Market &amp; Food</a:t>
            </a:r>
          </a:p>
          <a:p>
            <a:pPr>
              <a:defRPr sz="1200">
                <a:solidFill>
                  <a:srgbClr val="2D1C19"/>
                </a:solidFill>
                <a:latin typeface="Aptos"/>
              </a:defRPr>
            </a:pPr>
            <a:r>
              <a:rPr dirty="0"/>
              <a:t>Opportunities for local businesses, food and community commerce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4</a:t>
            </a:r>
          </a:p>
        </p:txBody>
      </p:sp>
      <p:pic>
        <p:nvPicPr>
          <p:cNvPr id="15" name="Picture 14" descr="mand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44168"/>
            <a:ext cx="384048" cy="384048"/>
          </a:xfrm>
          <a:prstGeom prst="rect">
            <a:avLst/>
          </a:prstGeom>
        </p:spPr>
      </p:pic>
      <p:pic>
        <p:nvPicPr>
          <p:cNvPr id="16" name="Picture 15" descr="mus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1344168"/>
            <a:ext cx="384048" cy="384048"/>
          </a:xfrm>
          <a:prstGeom prst="rect">
            <a:avLst/>
          </a:prstGeom>
        </p:spPr>
      </p:pic>
      <p:pic>
        <p:nvPicPr>
          <p:cNvPr id="17" name="Picture 16" descr="diy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4695" y="1344168"/>
            <a:ext cx="384048" cy="384048"/>
          </a:xfrm>
          <a:prstGeom prst="rect">
            <a:avLst/>
          </a:prstGeom>
        </p:spPr>
      </p:pic>
      <p:pic>
        <p:nvPicPr>
          <p:cNvPr id="18" name="Picture 17" descr="dandiy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858768"/>
            <a:ext cx="384048" cy="384048"/>
          </a:xfrm>
          <a:prstGeom prst="rect">
            <a:avLst/>
          </a:prstGeom>
        </p:spPr>
      </p:pic>
      <p:pic>
        <p:nvPicPr>
          <p:cNvPr id="19" name="Picture 18" descr="kid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536" y="3858768"/>
            <a:ext cx="384048" cy="384048"/>
          </a:xfrm>
          <a:prstGeom prst="rect">
            <a:avLst/>
          </a:prstGeom>
        </p:spPr>
      </p:pic>
      <p:pic>
        <p:nvPicPr>
          <p:cNvPr id="20" name="Picture 19" descr="mar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4695" y="3858768"/>
            <a:ext cx="384048" cy="38404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27079" y="5550408"/>
            <a:ext cx="1160352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Indicative Puja &amp; Cultural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16–21 October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1120140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ece64865-ee22-45e3-b0d7-fd8d02826a8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191" y="1051560"/>
            <a:ext cx="4553712" cy="5138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417320"/>
            <a:ext cx="2743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E0D1E"/>
                </a:solidFill>
                <a:latin typeface="Aptos"/>
              </a:defRPr>
            </a:pPr>
            <a:r>
              <a:t>KEY DATES</a:t>
            </a:r>
            <a:br/>
            <a:r>
              <a:t/>
            </a:r>
            <a:br/>
            <a:r>
              <a:t>16 Oct • Maha Sasthi</a:t>
            </a:r>
            <a:br/>
            <a:r>
              <a:t>17 Oct • Maha Saptami</a:t>
            </a:r>
            <a:br/>
            <a:r>
              <a:t>18 Oct • Maha Ashtami</a:t>
            </a:r>
            <a:br/>
            <a:r>
              <a:t>19 Oct • Maha Ashtami + Maha Navami</a:t>
            </a:r>
            <a:br/>
            <a:r>
              <a:t>20 Oct • Maha Navami</a:t>
            </a:r>
            <a:br/>
            <a:r>
              <a:t>21 Oct • Vijaya Dashami</a:t>
            </a:r>
            <a:br/>
            <a:r>
              <a:t/>
            </a:r>
            <a:br/>
            <a:r>
              <a:t>Plus cultural programmes, kids activities, flea market and Grand Dandiya Night.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1417320"/>
            <a:ext cx="2606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D1C19"/>
                </a:solidFill>
                <a:latin typeface="Aptos"/>
              </a:defRPr>
            </a:pPr>
            <a:r>
              <a:t>PROGRAMME HIGHLIGHTS</a:t>
            </a:r>
            <a:br/>
            <a:r>
              <a:t/>
            </a:r>
            <a:br/>
            <a:r>
              <a:t>• Kids activity competitions</a:t>
            </a:r>
            <a:br/>
            <a:r>
              <a:t>• Evening cultural programmes</a:t>
            </a:r>
            <a:br/>
            <a:r>
              <a:t>• Flea market + Mehendi</a:t>
            </a:r>
            <a:br/>
            <a:r>
              <a:t>• Kanya Puja</a:t>
            </a:r>
            <a:br/>
            <a:r>
              <a:t>• Grand Dandiya Night</a:t>
            </a:r>
            <a:br/>
            <a:r>
              <a:t>• Traditional rituals &amp; aarti</a:t>
            </a:r>
            <a:br/>
            <a:r>
              <a:t>• Visarjan procession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5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9963" y="5550408"/>
            <a:ext cx="957468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Community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A platform beyond the puja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7E0D1E"/>
                </a:solidFill>
                <a:latin typeface="Aptos"/>
              </a:defRPr>
            </a:pPr>
            <a:r>
              <a:t>A vibrant festival ecosystem for residents, families, children and local businesses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34747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t>Families &amp; Culture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Family participation across six days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Kids competitions and creativity zones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Traditional rituals and devotional gatherings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Cultural performances for multiple age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28800"/>
            <a:ext cx="34747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t>Community &amp; Commerce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Flea market and food stalls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Opportunities for local businesses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Brand interactions with community members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A festive environment for repeat daily visibility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828800"/>
            <a:ext cx="347472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t>Brand Engagement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Social media communication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On-ground branding opportunities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Stage announcements</a:t>
            </a:r>
          </a:p>
          <a:p>
            <a:pPr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t>• Association with a community-led cultural celebration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725" y="5550408"/>
            <a:ext cx="952706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Sponsor Visibility &amp; Brand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Partnership opportunities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Venue </a:t>
            </a:r>
            <a:r>
              <a:rPr dirty="0" smtClean="0"/>
              <a:t>Branding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 algn="ctr"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Prominent company banners, standees and branding at the event venue.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051560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Promotional </a:t>
            </a:r>
            <a:r>
              <a:rPr dirty="0" smtClean="0"/>
              <a:t>Materials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 algn="ctr"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Brand presence across selected event creatives and promotional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15768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Social Media </a:t>
            </a:r>
            <a:r>
              <a:rPr dirty="0" smtClean="0"/>
              <a:t>Visibility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 algn="ctr"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Brand acknowledgement through festival-related social media campaigns.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715768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Stage </a:t>
            </a:r>
            <a:r>
              <a:rPr dirty="0" smtClean="0"/>
              <a:t>Announcements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 algn="ctr"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Sponsor recognition during selected cultural </a:t>
            </a:r>
            <a:r>
              <a:rPr dirty="0" err="1"/>
              <a:t>programmes</a:t>
            </a:r>
            <a:r>
              <a:rPr dirty="0"/>
              <a:t> and event announcements.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379976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Community Partner </a:t>
            </a:r>
            <a:r>
              <a:rPr dirty="0" smtClean="0"/>
              <a:t>Recognition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Recognition as a valued supporter of the local cultural celebration.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79976"/>
            <a:ext cx="5257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13232" rIns="109728" rtlCol="0" anchor="ctr"/>
          <a:lstStyle/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Activation </a:t>
            </a:r>
            <a:r>
              <a:rPr dirty="0" smtClean="0"/>
              <a:t>Opportunities</a:t>
            </a:r>
            <a:endParaRPr lang="en-US" dirty="0" smtClean="0"/>
          </a:p>
          <a:p>
            <a:pPr algn="ctr">
              <a:defRPr sz="1700" b="1">
                <a:solidFill>
                  <a:srgbClr val="7E0D1E"/>
                </a:solidFill>
                <a:latin typeface="Aptos Display"/>
              </a:defRPr>
            </a:pPr>
            <a:endParaRPr dirty="0"/>
          </a:p>
          <a:p>
            <a:pPr algn="ctr">
              <a:defRPr sz="1150">
                <a:solidFill>
                  <a:srgbClr val="2D1C19"/>
                </a:solidFill>
                <a:latin typeface="Aptos"/>
              </a:defRPr>
            </a:pPr>
            <a:r>
              <a:rPr dirty="0"/>
              <a:t>Subject to mutual discussion: stalls, sampling, engagement or other suitable brand activities.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5C55"/>
                </a:solidFill>
                <a:latin typeface="Aptos"/>
              </a:defRPr>
            </a:pPr>
            <a:r>
              <a:t>Specific branding inventory can be customized based on the sponsorship contribution and campaign objectives.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7</a:t>
            </a:r>
          </a:p>
        </p:txBody>
      </p:sp>
      <p:pic>
        <p:nvPicPr>
          <p:cNvPr id="16" name="Picture 15" descr="br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298448"/>
            <a:ext cx="402336" cy="402336"/>
          </a:xfrm>
          <a:prstGeom prst="rect">
            <a:avLst/>
          </a:prstGeom>
        </p:spPr>
      </p:pic>
      <p:pic>
        <p:nvPicPr>
          <p:cNvPr id="17" name="Picture 16" descr="pro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1298448"/>
            <a:ext cx="402336" cy="402336"/>
          </a:xfrm>
          <a:prstGeom prst="rect">
            <a:avLst/>
          </a:prstGeom>
        </p:spPr>
      </p:pic>
      <p:pic>
        <p:nvPicPr>
          <p:cNvPr id="18" name="Picture 17" descr="so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962656"/>
            <a:ext cx="402336" cy="402336"/>
          </a:xfrm>
          <a:prstGeom prst="rect">
            <a:avLst/>
          </a:prstGeom>
        </p:spPr>
      </p:pic>
      <p:pic>
        <p:nvPicPr>
          <p:cNvPr id="19" name="Picture 18" descr="mega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2962656"/>
            <a:ext cx="402336" cy="402336"/>
          </a:xfrm>
          <a:prstGeom prst="rect">
            <a:avLst/>
          </a:prstGeom>
        </p:spPr>
      </p:pic>
      <p:pic>
        <p:nvPicPr>
          <p:cNvPr id="20" name="Picture 19" descr="commun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626864"/>
            <a:ext cx="402336" cy="402336"/>
          </a:xfrm>
          <a:prstGeom prst="rect">
            <a:avLst/>
          </a:prstGeom>
        </p:spPr>
      </p:pic>
      <p:pic>
        <p:nvPicPr>
          <p:cNvPr id="21" name="Picture 20" descr="activ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4626864"/>
            <a:ext cx="402336" cy="40233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49025" y="5550408"/>
            <a:ext cx="838406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Where Your Support Makes an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Sponsorship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E0D1E"/>
                </a:solidFill>
                <a:latin typeface="Aptos"/>
              </a:defRPr>
            </a:pPr>
            <a:r>
              <a:t>Your contribution directly helps create a safe, vibrant and memorable six-day celebration.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965960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19476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Beautifully decorated Durga Puja Mandap</a:t>
            </a:r>
          </a:p>
        </p:txBody>
      </p:sp>
      <p:sp>
        <p:nvSpPr>
          <p:cNvPr id="9" name="Oval 8"/>
          <p:cNvSpPr/>
          <p:nvPr/>
        </p:nvSpPr>
        <p:spPr>
          <a:xfrm>
            <a:off x="6400800" y="1965960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0" y="19476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Cultural performances and entertainment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07208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Traditional rituals and community events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807208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0" y="278892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Bhog / food arrangements and hospitality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648456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3630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Lighting, tenting, décor and event infrastructure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3648456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630168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Kids activities, gifts and community engagement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489704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44714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Dandiya / DJ Night and cultural programming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4489704"/>
            <a:ext cx="310896" cy="310896"/>
          </a:xfrm>
          <a:prstGeom prst="ellipse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471416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1C19"/>
                </a:solidFill>
                <a:latin typeface="Aptos"/>
              </a:defRPr>
            </a:pPr>
            <a:r>
              <a:t>Logistics, operations and immersion-related arrangements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5623560"/>
            <a:ext cx="5897880" cy="658368"/>
          </a:xfrm>
          <a:prstGeom prst="round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Estimated Overall Event Budget: ₹6.35 Lakhs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8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75" y="5550408"/>
            <a:ext cx="971756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Estimated Event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As provided by the Samiti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305386"/>
              </p:ext>
            </p:extLst>
          </p:nvPr>
        </p:nvGraphicFramePr>
        <p:xfrm>
          <a:off x="594360" y="1097280"/>
          <a:ext cx="75895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96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7E0D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Amount</a:t>
                      </a:r>
                    </a:p>
                  </a:txBody>
                  <a:tcPr>
                    <a:solidFill>
                      <a:srgbClr val="7E0D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Durga Idol + Lakshmi Idol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₹80,000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Priest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₹45,000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Dhaki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Tent + Light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₹2,05,000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Bhog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₹70,000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Pandal Decoration Items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rPr dirty="0" smtClean="0"/>
                        <a:t>₹</a:t>
                      </a:r>
                      <a:r>
                        <a:rPr lang="en-US" dirty="0" smtClean="0"/>
                        <a:t>20</a:t>
                      </a:r>
                      <a:r>
                        <a:rPr dirty="0" smtClean="0"/>
                        <a:t>,000</a:t>
                      </a:r>
                      <a:endParaRPr dirty="0"/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Flowers (all 8 days)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Puja daily expenses + food + accommodation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₹50,000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Dashakarma (including Lakshmi Puja)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₹30,000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Dandiya / DJ Night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₹22,000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Cultural event expenses + gifts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₹18,000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96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Lakshmi Puja expenses</a:t>
                      </a:r>
                    </a:p>
                  </a:txBody>
                  <a:tcPr>
                    <a:solidFill>
                      <a:srgbClr val="FBF4E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rPr dirty="0"/>
                        <a:t>₹</a:t>
                      </a:r>
                      <a:r>
                        <a:rPr dirty="0" smtClean="0"/>
                        <a:t>1</a:t>
                      </a:r>
                      <a:r>
                        <a:rPr lang="en-US" dirty="0" smtClean="0"/>
                        <a:t>5</a:t>
                      </a:r>
                      <a:r>
                        <a:rPr dirty="0" smtClean="0"/>
                        <a:t>,000</a:t>
                      </a:r>
                      <a:endParaRPr dirty="0"/>
                    </a:p>
                  </a:txBody>
                  <a:tcPr>
                    <a:solidFill>
                      <a:srgbClr val="FB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59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t>Logistics &amp; Bisarjan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50">
                          <a:solidFill>
                            <a:srgbClr val="2D1C19"/>
                          </a:solidFill>
                          <a:latin typeface="Aptos"/>
                        </a:defRPr>
                      </a:pPr>
                      <a:r>
                        <a:rPr dirty="0" smtClean="0"/>
                        <a:t>₹</a:t>
                      </a:r>
                      <a:r>
                        <a:rPr lang="en-US" dirty="0" smtClean="0"/>
                        <a:t>20</a:t>
                      </a:r>
                      <a:r>
                        <a:rPr dirty="0" smtClean="0"/>
                        <a:t>,000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234440"/>
            <a:ext cx="2971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201168" rtlCol="0" anchor="ctr"/>
          <a:lstStyle/>
          <a:p>
            <a:pPr algn="ctr">
              <a:defRPr sz="19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BUDGET CONTEXT</a:t>
            </a:r>
          </a:p>
          <a:p>
            <a:pPr>
              <a:spcAft>
                <a:spcPts val="1000"/>
              </a:spcAft>
              <a:defRPr sz="1250">
                <a:solidFill>
                  <a:srgbClr val="2D1C19"/>
                </a:solidFill>
                <a:latin typeface="Aptos"/>
              </a:defRPr>
            </a:pPr>
            <a:r>
              <a:rPr dirty="0"/>
              <a:t>• Overall budget communicated: ₹</a:t>
            </a:r>
            <a:r>
              <a:rPr dirty="0" smtClean="0"/>
              <a:t>6.5</a:t>
            </a:r>
            <a:r>
              <a:rPr lang="en-US" dirty="0" smtClean="0"/>
              <a:t>0</a:t>
            </a:r>
            <a:r>
              <a:rPr dirty="0" smtClean="0"/>
              <a:t> </a:t>
            </a:r>
            <a:r>
              <a:rPr dirty="0"/>
              <a:t>lakh.</a:t>
            </a:r>
          </a:p>
          <a:p>
            <a:pPr>
              <a:spcAft>
                <a:spcPts val="1000"/>
              </a:spcAft>
              <a:defRPr sz="1250">
                <a:solidFill>
                  <a:srgbClr val="2D1C19"/>
                </a:solidFill>
                <a:latin typeface="Aptos"/>
              </a:defRPr>
            </a:pPr>
            <a:r>
              <a:rPr dirty="0"/>
              <a:t>• Major cost heads include tent &amp; lighting, idol, </a:t>
            </a:r>
            <a:r>
              <a:rPr dirty="0" err="1"/>
              <a:t>bhog</a:t>
            </a:r>
            <a:r>
              <a:rPr dirty="0"/>
              <a:t>, flowers and daily puja requirements.</a:t>
            </a:r>
          </a:p>
          <a:p>
            <a:pPr>
              <a:spcAft>
                <a:spcPts val="1000"/>
              </a:spcAft>
              <a:defRPr sz="1250">
                <a:solidFill>
                  <a:srgbClr val="2D1C19"/>
                </a:solidFill>
                <a:latin typeface="Aptos"/>
              </a:defRPr>
            </a:pPr>
            <a:r>
              <a:rPr dirty="0"/>
              <a:t>• Sponsorship contributions may be allocated against agreed event components and visibility deliverables.</a:t>
            </a:r>
          </a:p>
          <a:p>
            <a:pPr>
              <a:spcAft>
                <a:spcPts val="1000"/>
              </a:spcAft>
              <a:defRPr sz="1250">
                <a:solidFill>
                  <a:srgbClr val="2D1C19"/>
                </a:solidFill>
                <a:latin typeface="Aptos"/>
              </a:defRPr>
            </a:pPr>
            <a:r>
              <a:rPr dirty="0"/>
              <a:t>• Brand activation / customized deliverables can be discussed separately.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5669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5C55"/>
                </a:solidFill>
                <a:latin typeface="Aptos"/>
              </a:defRPr>
            </a:pPr>
            <a:r>
              <a:t>Note: Itemized figures are reproduced from the provided budget sheet.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9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363" y="5550408"/>
            <a:ext cx="805068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Digital &amp; Community Presence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Stay connected</a:t>
            </a:r>
          </a:p>
        </p:txBody>
      </p:sp>
      <p:pic>
        <p:nvPicPr>
          <p:cNvPr id="6" name="Picture 5" descr="70e94c1e-db53-47c0-ab35-406d2108bce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097280"/>
            <a:ext cx="3749039" cy="5166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1325880"/>
            <a:ext cx="6492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7E0D1E"/>
                </a:solidFill>
                <a:latin typeface="Aptos"/>
              </a:defRPr>
            </a:pPr>
            <a:r>
              <a:t>Follow the journey of Concorde Auriga Durgotsav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1488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645C55"/>
                </a:solidFill>
                <a:latin typeface="Aptos"/>
              </a:defRPr>
            </a:pPr>
            <a:r>
              <a:t>Instagram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60604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7E0D1E"/>
                </a:solidFill>
                <a:latin typeface="Aptos"/>
              </a:defRPr>
            </a:pPr>
            <a:r>
              <a:t>@aurigadurgoutsav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3246120"/>
            <a:ext cx="6492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D1C19"/>
                </a:solidFill>
                <a:latin typeface="Aptos"/>
              </a:defRPr>
            </a:pPr>
            <a:r>
              <a:t>Our community page showcases the festival journey, cultural programmes, celebrations and updates. Sponsors can also benefit from digital recognition as part of the event communication plan.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4617720"/>
            <a:ext cx="6492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E0D1E"/>
                </a:solidFill>
                <a:latin typeface="Aptos"/>
              </a:defRPr>
            </a:pPr>
            <a:r>
              <a:t>https://www.instagram.com/aurigadurgoutsav/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54864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D972A"/>
                </a:solidFill>
                <a:latin typeface="Aptos"/>
              </a:defRPr>
            </a:pPr>
            <a:r>
              <a:t>Community-led • Family-focused • Culture-driven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10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863" y="5550408"/>
            <a:ext cx="995568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961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Let's Build the Celebration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554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F4E1AD"/>
                </a:solidFill>
                <a:latin typeface="Aptos"/>
              </a:defRPr>
            </a:pPr>
            <a:r>
              <a:t>Sponsor partnership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7E0D1E"/>
                </a:solidFill>
                <a:latin typeface="Aptos"/>
              </a:defRPr>
            </a:pPr>
            <a:r>
              <a:t>A partnership that connects your brand with community, culture and celebration.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59" y="2057400"/>
            <a:ext cx="4668204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For Your Brand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Brand visibility at the venue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Recognition in event communication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Association with a community cultural initiative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Potential on-ground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8875" y="2057400"/>
            <a:ext cx="4548187" cy="3337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rIns="164592" rtlCol="0" anchor="ctr"/>
          <a:lstStyle/>
          <a:p>
            <a:pPr algn="ctr">
              <a:spcAft>
                <a:spcPts val="800"/>
              </a:spcAft>
              <a:defRPr sz="1800" b="1">
                <a:solidFill>
                  <a:srgbClr val="7E0D1E"/>
                </a:solidFill>
                <a:latin typeface="Aptos Display"/>
              </a:defRPr>
            </a:pPr>
            <a:r>
              <a:rPr dirty="0"/>
              <a:t>For the Celebration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Support puja infrastructure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Support cultural programming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Support kids and family activities</a:t>
            </a:r>
          </a:p>
          <a:p>
            <a:pPr algn="ctr">
              <a:spcAft>
                <a:spcPts val="700"/>
              </a:spcAft>
              <a:defRPr sz="1400">
                <a:solidFill>
                  <a:srgbClr val="2D1C19"/>
                </a:solidFill>
                <a:latin typeface="Aptos"/>
              </a:defRPr>
            </a:pPr>
            <a:r>
              <a:rPr dirty="0"/>
              <a:t>• Support hospitality and community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7E0D1E"/>
                </a:solidFill>
                <a:latin typeface="Aptos"/>
              </a:defRPr>
            </a:pPr>
            <a:r>
              <a:t>We would be pleased to discuss a sponsorship format aligned with your brand objectives and contribution level.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11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4238" y="5550408"/>
            <a:ext cx="1043193" cy="9418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a_durgotsav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874519"/>
            <a:ext cx="4069080" cy="406908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7E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7E0D1E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>
                <a:solidFill>
                  <a:srgbClr val="2D1C19"/>
                </a:solidFill>
                <a:latin typeface="Aptos"/>
              </a:defRPr>
            </a:pPr>
            <a:r>
              <a:t>We look forward to partnering with you to create a memorable Second Year Durga Puja &amp; Navratri Celebration.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880360"/>
            <a:ext cx="83667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CD9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7E0D1E"/>
                </a:solidFill>
                <a:latin typeface="Aptos Display"/>
              </a:defRPr>
            </a:pPr>
            <a:r>
              <a:t>CA DURGOTSAV &amp; NAVRATRI SAMITI</a:t>
            </a:r>
          </a:p>
          <a:p>
            <a:pPr algn="ctr">
              <a:defRPr sz="1400">
                <a:solidFill>
                  <a:srgbClr val="2D1C19"/>
                </a:solidFill>
                <a:latin typeface="Aptos"/>
              </a:defRPr>
            </a:pPr>
            <a:r>
              <a:t>Concorde Auriga, Medahalli</a:t>
            </a:r>
          </a:p>
          <a:p>
            <a:pPr algn="ctr">
              <a:defRPr sz="1400">
                <a:solidFill>
                  <a:srgbClr val="2D1C19"/>
                </a:solidFill>
                <a:latin typeface="Aptos"/>
              </a:defRPr>
            </a:pPr>
            <a:r>
              <a:t>Durga Puja &amp; Navratri • 16–21 October 2026</a:t>
            </a:r>
          </a:p>
          <a:p>
            <a:pPr algn="ctr">
              <a:defRPr sz="1400">
                <a:solidFill>
                  <a:srgbClr val="2D1C19"/>
                </a:solidFill>
                <a:latin typeface="Aptos"/>
              </a:defRPr>
            </a:pPr>
            <a:r>
              <a:t>Instagram: @aurigadurgoutsav</a:t>
            </a:r>
          </a:p>
          <a:p>
            <a:pPr algn="ctr">
              <a:defRPr sz="1400">
                <a:solidFill>
                  <a:srgbClr val="2D1C19"/>
                </a:solidFill>
                <a:latin typeface="Aptos"/>
              </a:defRPr>
            </a:pPr>
            <a:r>
              <a:t>Estimated Event Budget: ₹6.35 Lakhs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7E0D1E"/>
                </a:solidFill>
                <a:latin typeface="Aptos"/>
              </a:defRPr>
            </a:pPr>
            <a:r>
              <a:t>Your support will help strengthen community engagement and celebrate our rich cultural heritage.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510528"/>
            <a:ext cx="11247120" cy="18288"/>
          </a:xfrm>
          <a:prstGeom prst="rect">
            <a:avLst/>
          </a:prstGeom>
          <a:solidFill>
            <a:srgbClr val="CD9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5C55"/>
                </a:solidFill>
                <a:latin typeface="Aptos"/>
              </a:defRPr>
            </a:pPr>
            <a:r>
              <a:t>CA Durgotsav &amp; Navratri Samiti • Concorde Auriga, Medahalli • 16–21 October 2026   |   12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813" y="5550408"/>
            <a:ext cx="1014618" cy="941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1098</Words>
  <Application>Microsoft Office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mojo</dc:creator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2026-09-26T02:06:32Z</dcterms:modified>
  <cp:category/>
</cp:coreProperties>
</file>